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DSAI4205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Daily Public Opinion on</a:t>
            </a:r>
            <a:br/>
            <a:r>
              <a:t>Israel-Palestine War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5A5A6"/>
                </a:solidFill>
                <a:latin typeface="Calibri"/>
              </a:defRPr>
            </a:pPr>
            <a:r>
              <a:t>Sentiment Analysis of 3,125 Reddit Comments  |  6 Models  |  21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Member A — EDA &amp; Visualizations      Member B — Data Cleaning &amp; Baseline</a:t>
            </a:r>
            <a:br/>
            <a:r>
              <a:t>Member C — Word2Vec+SVM, GloVe+XGB   Member D — FastText+BiLSTM, Doc2Vec+CNN</a:t>
            </a:r>
            <a:br/>
            <a:r>
              <a:t>Member E — BERT + Refinement + Creativity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Semester Two,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 Overview &amp; Class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Source: 3,125 Reddit comments on Israel-Palestine conflict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Labels: Positive (1,390/44.5%) | Neutral (890/28.5%) | Negative (845/27.0%)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Imbalance ratio: 1.64:1 (Positive : Negative)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Text length: Mean=235, Median=127, Max=7,973 chars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Data quality issues: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• 641 encoding artifacts (20.5%)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• 8 duplicates, 34 near-duplicates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• 277 text-length outliers (8.9%) — retained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Kruskal-Wallis: H=739.35, p&lt;0.0001</a:t>
            </a:r>
          </a:p>
        </p:txBody>
      </p:sp>
      <p:pic>
        <p:nvPicPr>
          <p:cNvPr id="5" name="Picture 4" descr="viz_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EDA: Text Distribution, Word Clouds &amp; Bigrams</a:t>
            </a:r>
          </a:p>
        </p:txBody>
      </p:sp>
      <p:pic>
        <p:nvPicPr>
          <p:cNvPr id="4" name="Picture 3" descr="viz_02_text_lengt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3931920" cy="1404257"/>
          </a:xfrm>
          <a:prstGeom prst="rect">
            <a:avLst/>
          </a:prstGeom>
        </p:spPr>
      </p:pic>
      <p:pic>
        <p:nvPicPr>
          <p:cNvPr id="5" name="Picture 4" descr="viz_03_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05840"/>
            <a:ext cx="3931920" cy="1092200"/>
          </a:xfrm>
          <a:prstGeom prst="rect">
            <a:avLst/>
          </a:prstGeom>
        </p:spPr>
      </p:pic>
      <p:pic>
        <p:nvPicPr>
          <p:cNvPr id="6" name="Picture 5" descr="viz_04_big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005840"/>
            <a:ext cx="3840480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212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Neutral = short factual (mean 77 chars) | Positive = extended arguments (mean 327) | Negative = emotional (mean 250)</a:t>
            </a:r>
            <a:br/>
            <a:r>
              <a:t>Vocabulary overlap: "Israel","Palestinian" everywhere. Bigrams: "war crime" (Neg), "free palestine" (Pos)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Cleaning &amp; Baseline Model</a:t>
            </a:r>
          </a:p>
        </p:txBody>
      </p:sp>
      <p:pic>
        <p:nvPicPr>
          <p:cNvPr id="4" name="Picture 3" descr="flow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4572000" cy="2743200"/>
          </a:xfrm>
          <a:prstGeom prst="rect">
            <a:avLst/>
          </a:prstGeom>
        </p:spPr>
      </p:pic>
      <p:pic>
        <p:nvPicPr>
          <p:cNvPr id="5" name="Picture 4" descr="flow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23360"/>
            <a:ext cx="45720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0058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Cleaning: 3,125 → 2,809 rows (6 enhancements)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• Contraction expansion, Reddit patterns, negation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• 3 text variants: lemmatized / light / BERT-preserving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Baseline: TF-IDF (11,857d) + Logistic Regression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Accuracy: 0.6655  |  F1 (macro): 0.6606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Neutral F1=0.71 | Positive F1=0.70 | Negative F1=0.57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Error: 188/562 misclassified (33.5%)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Biggest confusion: Positive ↔ Negative (105 cases)</a:t>
            </a:r>
          </a:p>
        </p:txBody>
      </p:sp>
      <p:pic>
        <p:nvPicPr>
          <p:cNvPr id="7" name="Picture 6" descr="viz_06_baseline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657600"/>
            <a:ext cx="3200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Word Embeddings Connect to ML Classifiers</a:t>
            </a:r>
          </a:p>
        </p:txBody>
      </p:sp>
      <p:pic>
        <p:nvPicPr>
          <p:cNvPr id="4" name="Picture 3" descr="flow_mean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1005840"/>
          </a:xfrm>
          <a:prstGeom prst="rect">
            <a:avLst/>
          </a:prstGeom>
        </p:spPr>
      </p:pic>
      <p:pic>
        <p:nvPicPr>
          <p:cNvPr id="5" name="Picture 4" descr="flow_c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0"/>
            <a:ext cx="5486400" cy="1005840"/>
          </a:xfrm>
          <a:prstGeom prst="rect">
            <a:avLst/>
          </a:prstGeom>
        </p:spPr>
      </p:pic>
      <p:pic>
        <p:nvPicPr>
          <p:cNvPr id="6" name="Picture 5" descr="flow_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74720"/>
            <a:ext cx="5486400" cy="1005840"/>
          </a:xfrm>
          <a:prstGeom prst="rect">
            <a:avLst/>
          </a:prstGeom>
        </p:spPr>
      </p:pic>
      <p:pic>
        <p:nvPicPr>
          <p:cNvPr id="7" name="Picture 6" descr="flow_docv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663440"/>
            <a:ext cx="548640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All models: Text → Tokenize → Embed → Aggregate → Classify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A. Mean Pooling (W2V+SVM, GloVe+XGB)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Simple but loses word order &amp; dilutes signal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B. [CLS] Token (BERT+MLP)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Context-aware via self-attention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C. Sequence Input (FastText+BiLSTM)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Preserves word order, needs more data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D. Document Vector (Doc2Vec+CNN)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Holistic representation, no pooling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 Advanced Models: Results</a:t>
            </a:r>
          </a:p>
        </p:txBody>
      </p:sp>
      <p:pic>
        <p:nvPicPr>
          <p:cNvPr id="4" name="Picture 3" descr="viz_09_model_compariso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Model 1: Word2Vec (scratch) + SVM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F1=0.38 | 39% OOV → zero vectors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Model 2: GloVe (pretrained) + XGBoost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F1=0.55 | Only 7% OOV (400K vocab)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Model 3: BERT frozen + MLP / Fine-tuned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F1=0.49 / 0.59 | +0.10 from fine-tuning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Model 4: FastText (scratch) + BiLSTM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F1=0.41 | Low Negative recall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Model 5: Doc2Vec (scratch) + CNN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F1=0.40 | Noisy doc vectors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ALL underperform baseline (F1=0.66)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Advanced Models Underperform Baseline</a:t>
            </a:r>
          </a:p>
        </p:txBody>
      </p:sp>
      <p:pic>
        <p:nvPicPr>
          <p:cNvPr id="4" name="Picture 3" descr="viz_17_diagnostic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3200400"/>
          </a:xfrm>
          <a:prstGeom prst="rect">
            <a:avLst/>
          </a:prstGeom>
        </p:spPr>
      </p:pic>
      <p:pic>
        <p:nvPicPr>
          <p:cNvPr id="5" name="Picture 4" descr="viz_11_all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297680"/>
            <a:ext cx="576072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05840"/>
            <a:ext cx="56692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5 root causes: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1. OOV: W2V 39.4% vs TF-IDF 0%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Missing words → zero vectors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2. Separability: TF-IDF 0.734 vs W2V 0.015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50× better class separation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3. Mean pooling destroys "genocide" signal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Averaged away with 30 other tokens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4. Dimensionality: 11,857 vs 300 features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5. Data efficiency: TF-IDF needs ~1K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BERT/BiLSTM need 10K–100K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On small data, sparse &gt; dense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Handling Imbalanced Dataset: 8 Strategies</a:t>
            </a:r>
          </a:p>
        </p:txBody>
      </p:sp>
      <p:pic>
        <p:nvPicPr>
          <p:cNvPr id="4" name="Picture 3" descr="flow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0584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Best results on TF-IDF + LR: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Hybrid (Over+Under)      F1=0.6692  +0.009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SMOTE on TF-IDF          F1=0.6655  +0.005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ADASYN                   F1=0.6619  +0.001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Random Oversampling      F1=0.6617  +0.001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On embedding models: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Class Weights SVM        F1=0.5567  +0.178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SMOTE SVM                F1=0.5245  +0.146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Focal Loss BiLSTM        F1=0.4103  -0.002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Text Augmentation: Neg 648 → 1,944 samples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Key: Hybrid &gt; SMOTE &gt; ROS &gt; ADASYN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Refinement: Tuning &amp; Ensemble Stacking</a:t>
            </a:r>
          </a:p>
        </p:txBody>
      </p:sp>
      <p:pic>
        <p:nvPicPr>
          <p:cNvPr id="4" name="Picture 3" descr="flow_st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029200" cy="3200400"/>
          </a:xfrm>
          <a:prstGeom prst="rect">
            <a:avLst/>
          </a:prstGeom>
        </p:spPr>
      </p:pic>
      <p:pic>
        <p:nvPicPr>
          <p:cNvPr id="5" name="Picture 4" descr="flow_vo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72000"/>
            <a:ext cx="5029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00584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GridSearchCV: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SVM: C=10, +0.15 F1 (biggest tuning gain)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XGBoost/LR: already near-optimal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Ensemble Stacking (4 models, LR meta):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F1=0.6708 | Acc=0.6815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BEST OVERALL (+0.010 over baseline)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Uses LR, SVM, XGBoost, BERT cross-val probs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Baseline Voting (LR+LSVC+Ridge):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Soft Voting F1=0.6611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Hard Voting F1=0.6560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Ensemble v2 (6 tuned models): F1=0.6566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Correlated predictions add redundant noise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Creativity: SHAP, t-SNE/UMAP, Error Analysis</a:t>
            </a:r>
          </a:p>
        </p:txBody>
      </p:sp>
      <p:pic>
        <p:nvPicPr>
          <p:cNvPr id="4" name="Picture 3" descr="viz_12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3840480" cy="2743200"/>
          </a:xfrm>
          <a:prstGeom prst="rect">
            <a:avLst/>
          </a:prstGeom>
        </p:spPr>
      </p:pic>
      <p:pic>
        <p:nvPicPr>
          <p:cNvPr id="5" name="Picture 4" descr="viz_14_tsne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05840"/>
            <a:ext cx="3840480" cy="2743200"/>
          </a:xfrm>
          <a:prstGeom prst="rect">
            <a:avLst/>
          </a:prstGeom>
        </p:spPr>
      </p:pic>
      <p:pic>
        <p:nvPicPr>
          <p:cNvPr id="6" name="Picture 5" descr="viz_16_error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05840"/>
            <a:ext cx="38404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11480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SHAP: decomposes predictions into per-feature contributions — top dimensions drive each sentiment class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t-SNE / UMAP: BERT shows best class separation; Word2Vec = amorphous blob; correlates with F1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Error Analysis: 25.4% full agreement, 16.4% high disagreement — ~16% potential label noise = performance ceiling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Conclusion: 5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1. Ensemble Stacking is the best model (F1=0.6708)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+0.010 over standalone baseline via meta-learning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2. From-scratch embeddings need far more data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~2,809 texts insufficient for 300d embeddings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3. Hybrid sampling = best imbalance fix (F1=0.6692)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Oversample minorities + undersample majority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4. Mean pooling destroys discriminative information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TF-IDF separability 0.734 vs Word2Vec 0.015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5. Political text is inherently ambiguous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~16% label noise = hard performance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Final Model Ranking: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1. Ensemble Stacking      F1=0.6708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2. Hybrid + LR            F1=0.6692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3. TF-IDF + LR            F1=0.6606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4. Fine-tuned BERT        F1=0.5927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5. GloVe + XGBoost        F1=0.5535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Recommendation: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Deploy Ensemble or TF-IDF + LR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Future work: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Domain-specific transformer on 10K+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498D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5A5A6"/>
                </a:solidFill>
                <a:latin typeface="Calibri"/>
              </a:defRPr>
            </a:pPr>
            <a:r>
              <a:t>104 notebook cells  •  21 visualizations  •  15 flowcharts  •  36 tables</a:t>
            </a:r>
            <a:br/>
            <a:r>
              <a:t>19 experiments logged  •  6 models compared  •  8 imbalance strategies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Ensemble v2: 6 Tuned Models Architecture</a:t>
            </a:r>
          </a:p>
        </p:txBody>
      </p:sp>
      <p:pic>
        <p:nvPicPr>
          <p:cNvPr id="3" name="Picture 2" descr="ensemble_v2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